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2" r:id="rId3"/>
    <p:sldId id="258" r:id="rId4"/>
    <p:sldId id="259" r:id="rId5"/>
    <p:sldId id="260" r:id="rId6"/>
    <p:sldId id="261" r:id="rId7"/>
    <p:sldId id="262" r:id="rId8"/>
    <p:sldId id="264" r:id="rId9"/>
    <p:sldId id="276" r:id="rId10"/>
    <p:sldId id="265" r:id="rId11"/>
    <p:sldId id="269" r:id="rId12"/>
    <p:sldId id="270" r:id="rId13"/>
    <p:sldId id="277" r:id="rId14"/>
    <p:sldId id="271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52E1B-8335-EEA7-AA0E-5C64638FE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22A3B7-F5E6-14FB-95EC-6EE2A706F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2B9D6-EC14-1F1A-E517-CDFFBE150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BE441-3CD9-9F6D-DB13-7DF07C07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09532-A17E-8E5C-AF3F-9A06D8AF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34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3FBC-022D-81AA-1CB2-AE0FACF8C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84597-9A3C-02CE-2123-D7D263CD9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79C77-0A75-CB70-8926-718D3D697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5584C-B9AA-837B-C3D3-1D1AF981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2B4DD-0AB4-FFC1-58F9-607462D1A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772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62F2D-7424-0CDA-6509-7E733B66F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77A5F-4E77-4E62-4EA0-D18ABBE41A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ADD8F-DB95-F795-D09B-72ECBC8A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ACC45-A613-2FCF-2647-8C873B089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C8BC8-85BE-0605-8549-A30DA6A4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45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718D3-7AB9-11A8-01C9-AFCF40C50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110D-A0E8-9D2D-B885-81D0EF414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031ACB-CADE-7DFF-5596-1AC2021A0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3F3FC-71CF-BDBC-AAEB-DFD86F25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9ABEE-1ED5-1A95-5A35-99B66CA02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306BD-A4FD-83A7-2EB5-BE1C59422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6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C2EA4-C5C4-CF2F-A8E9-FE521AB18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643AA-6E35-6859-1DFF-C42357F97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AE08A-4194-0129-49B6-C6BBC39CD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B325D-5AA5-5163-2686-B7D84C5A5E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E8073C-CE91-06CD-CC4A-117D806A4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AC6C28-4F6B-E584-12FF-E83D3229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8AB3F-9C90-E5C3-E1E2-4A8C7CFF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DF97E9-B39A-EA7F-5571-78244FC25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332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739B-5E14-E97C-F7B2-8FD28784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7A3E0E-6CED-CF13-52D8-7F005AEF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08310A-669E-9895-4AF6-96FFB2B2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17E937-98DF-82B3-4982-2F4FD3DD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4506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79E41-DF00-8AAF-09F9-B8D1FCE3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5CCAF-9FB2-4F4F-0693-17499FE69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B314E-2E37-7043-143D-67FE4B413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3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D7D2F-D5CD-A682-289C-8C100F99B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757A2-1006-1CE3-84C9-1CE223411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160BDF-8DA8-2EBC-9348-5442F92A1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984045-8547-51F5-43DC-5DF78A150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F02ED-0B83-45B9-F6AE-673D9EE26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37178-DD8F-6E8E-F4AE-49666C857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65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84D49-0195-C05B-1402-127B3A8EA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E39F53-12D2-BFC9-7DF4-3426ECC5CD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7FC502-4DDB-26A4-4973-279F1D94B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AF5D75-3419-C8F0-931A-FFB24A1C0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63513-3048-022B-BFB2-F74EB131C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FE3A9-92BF-61D4-7814-807EA7DE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92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C614-2E59-3ED7-212D-EB8F96F25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F2C77E-074C-108D-505A-19711A16E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05580-FBC7-C50E-8FFA-01D41CF34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EE017-12E8-F733-FA3F-B4FB26B0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F95D4-8256-3579-0444-0AAF62763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92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BA15F-D308-BFDE-B3EF-CDFAC79951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88443-C7FB-ADEE-68CD-2F2AC2E07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A2A0-3057-D6DE-5CD1-9EA7A928D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B19A9-4451-D282-FE15-4894991C4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F51F2-825B-80F8-17A9-36D687FF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66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28F89-B507-7981-5259-9B20CAE5F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016B4-4365-5975-6920-E72E55615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8E589-A38F-EE78-37D4-8A97DFD6AA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AD85C-AE3A-472D-BA38-D6B10D718672}" type="datetimeFigureOut">
              <a:rPr lang="en-IN" smtClean="0"/>
              <a:t>22-12-2025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9C44A-8296-7EA3-F055-072E0B98C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C5BE2-17E6-010D-0CDD-5E35A002D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C40E7-E796-42B1-B730-627A19848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643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B2E877-CADF-6DF5-45FA-99764E7DF95E}"/>
              </a:ext>
            </a:extLst>
          </p:cNvPr>
          <p:cNvSpPr txBox="1"/>
          <p:nvPr/>
        </p:nvSpPr>
        <p:spPr>
          <a:xfrm>
            <a:off x="360575" y="333808"/>
            <a:ext cx="111118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>
                <a:solidFill>
                  <a:schemeClr val="accent5">
                    <a:lumMod val="50000"/>
                  </a:schemeClr>
                </a:solidFill>
              </a:rPr>
              <a:t>SQL Funnel &amp; Retention Analysis of e commerce events history in electronic store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1F4EEB0-8977-4C93-4F66-48CA178B8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75" y="5625146"/>
            <a:ext cx="431747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Funnel → tells who converted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Retention → tells who came back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3B41DA-0667-E1E9-F8C0-65B372D8CA09}"/>
              </a:ext>
            </a:extLst>
          </p:cNvPr>
          <p:cNvSpPr txBox="1"/>
          <p:nvPr/>
        </p:nvSpPr>
        <p:spPr>
          <a:xfrm>
            <a:off x="8889476" y="5712643"/>
            <a:ext cx="3035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By Sachin shanbhogue k</a:t>
            </a:r>
          </a:p>
        </p:txBody>
      </p:sp>
    </p:spTree>
    <p:extLst>
      <p:ext uri="{BB962C8B-B14F-4D97-AF65-F5344CB8AC3E}">
        <p14:creationId xmlns:p14="http://schemas.microsoft.com/office/powerpoint/2010/main" val="215145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BBBC16C-88F2-16CD-9979-79FB77E2D9E1}"/>
              </a:ext>
            </a:extLst>
          </p:cNvPr>
          <p:cNvSpPr txBox="1"/>
          <p:nvPr/>
        </p:nvSpPr>
        <p:spPr>
          <a:xfrm>
            <a:off x="162612" y="3149031"/>
            <a:ext cx="11602040" cy="3402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preparation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Imported raw e-commerce events data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Identified: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Scientific-notation IDs (handled correctly)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Blank </a:t>
            </a:r>
            <a:r>
              <a:rPr lang="en-IN" sz="16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category_code</a:t>
            </a: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vs real NULLs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Duplicate event rows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Made </a:t>
            </a:r>
            <a:r>
              <a:rPr lang="en-IN" sz="1600" kern="1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event_time</a:t>
            </a:r>
            <a:r>
              <a:rPr lang="en-IN" sz="16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column to datetime and also made ne columns from it.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Removed duplicates using window functions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Created a </a:t>
            </a: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clean working table (</a:t>
            </a:r>
            <a:r>
              <a:rPr lang="en-IN" sz="16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events_d</a:t>
            </a:r>
            <a:r>
              <a:rPr lang="en-IN" sz="1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6B398-EA7D-51CE-12D2-16DDD6B1131F}"/>
              </a:ext>
            </a:extLst>
          </p:cNvPr>
          <p:cNvSpPr txBox="1"/>
          <p:nvPr/>
        </p:nvSpPr>
        <p:spPr>
          <a:xfrm>
            <a:off x="162612" y="2734922"/>
            <a:ext cx="299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Steps  followed -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FAE9E-B975-9FA0-22E5-BAAE3EE73C3B}"/>
              </a:ext>
            </a:extLst>
          </p:cNvPr>
          <p:cNvSpPr txBox="1"/>
          <p:nvPr/>
        </p:nvSpPr>
        <p:spPr>
          <a:xfrm>
            <a:off x="162612" y="174259"/>
            <a:ext cx="116963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Project Objective</a:t>
            </a:r>
          </a:p>
          <a:p>
            <a:pPr>
              <a:buNone/>
            </a:pPr>
            <a:endParaRPr lang="en-US" sz="2800" b="1" u="sng" dirty="0"/>
          </a:p>
          <a:p>
            <a:pPr>
              <a:buNone/>
            </a:pPr>
            <a:r>
              <a:rPr lang="en-US" b="1" dirty="0"/>
              <a:t>To analyze user behavior in an e-commerce platform by evaluating the conversion funnel, identifying category-level purchase patterns, and measuring short-term customer retention, in order to uncover key drop-off points and actionable opportunities to improve conversions and early repeat purchases.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23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4F936-5716-B617-9AD0-3C94EF642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0606" cy="54039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FEBFB6-9E1A-A60D-AF77-66F028945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606" y="1"/>
            <a:ext cx="5910606" cy="54039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134030-BE53-B2E5-D8A8-3E4D7E01EEF4}"/>
              </a:ext>
            </a:extLst>
          </p:cNvPr>
          <p:cNvSpPr txBox="1"/>
          <p:nvPr/>
        </p:nvSpPr>
        <p:spPr>
          <a:xfrm>
            <a:off x="143760" y="5760024"/>
            <a:ext cx="609442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/>
              <a:t>You now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/>
              <a:t>events_d</a:t>
            </a:r>
            <a:r>
              <a:rPr lang="en-US" sz="1600" dirty="0"/>
              <a:t> → deduped, time cleaned, analysis-ready</a:t>
            </a:r>
          </a:p>
          <a:p>
            <a:pPr>
              <a:buNone/>
            </a:pPr>
            <a:r>
              <a:rPr lang="en-US" sz="1600" dirty="0"/>
              <a:t>Next phase = </a:t>
            </a:r>
            <a:r>
              <a:rPr lang="en-US" sz="1600" b="1" dirty="0"/>
              <a:t>Funnel Analysis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82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8A45FD-5733-A406-0C0C-38867E664CFE}"/>
              </a:ext>
            </a:extLst>
          </p:cNvPr>
          <p:cNvSpPr txBox="1"/>
          <p:nvPr/>
        </p:nvSpPr>
        <p:spPr>
          <a:xfrm>
            <a:off x="200320" y="27921"/>
            <a:ext cx="609442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FUNNEL DEFINITION &amp; CONVERSION ANALYSIS</a:t>
            </a:r>
          </a:p>
          <a:p>
            <a:pPr>
              <a:buNone/>
            </a:pPr>
            <a:r>
              <a:rPr lang="en-US" dirty="0"/>
              <a:t>🎯 Business Question</a:t>
            </a:r>
          </a:p>
          <a:p>
            <a:pPr>
              <a:buNone/>
            </a:pPr>
            <a:r>
              <a:rPr lang="en-US" sz="1600" dirty="0"/>
              <a:t>Where do users drop off in the purchase journey?</a:t>
            </a:r>
          </a:p>
          <a:p>
            <a:pPr>
              <a:buNone/>
            </a:pPr>
            <a:r>
              <a:rPr lang="en-US" sz="1600" dirty="0"/>
              <a:t>We’ll build a clean, defensible funnel.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C2EB48-4D68-9F15-CCB4-046E416F9E38}"/>
              </a:ext>
            </a:extLst>
          </p:cNvPr>
          <p:cNvSpPr txBox="1"/>
          <p:nvPr/>
        </p:nvSpPr>
        <p:spPr>
          <a:xfrm>
            <a:off x="106052" y="1587460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🔹 STEP 1: Define Funnel Steps </a:t>
            </a:r>
          </a:p>
          <a:p>
            <a:pPr>
              <a:buNone/>
            </a:pPr>
            <a:r>
              <a:rPr lang="en-US" sz="1600" dirty="0"/>
              <a:t>For this dataset, use: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40D4B1E-5B71-7444-CD9D-75FEBEFE8A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42826"/>
              </p:ext>
            </p:extLst>
          </p:nvPr>
        </p:nvGraphicFramePr>
        <p:xfrm>
          <a:off x="1124147" y="2172235"/>
          <a:ext cx="10515600" cy="12192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597830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66018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Step</a:t>
                      </a:r>
                      <a:endParaRPr lang="en-IN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event_type</a:t>
                      </a:r>
                      <a:endParaRPr lang="en-IN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712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Step 1</a:t>
                      </a:r>
                      <a:endParaRPr lang="en-IN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view</a:t>
                      </a:r>
                      <a:endParaRPr lang="en-IN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80970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Step 2</a:t>
                      </a:r>
                      <a:endParaRPr lang="en-IN" sz="140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cart</a:t>
                      </a:r>
                      <a:endParaRPr lang="en-IN" sz="140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150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Step 3</a:t>
                      </a:r>
                      <a:endParaRPr lang="en-IN" sz="14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purchase</a:t>
                      </a:r>
                      <a:endParaRPr lang="en-IN" sz="140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0652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73DD933-3C30-03D2-6B62-A24A012C612E}"/>
              </a:ext>
            </a:extLst>
          </p:cNvPr>
          <p:cNvSpPr txBox="1"/>
          <p:nvPr/>
        </p:nvSpPr>
        <p:spPr>
          <a:xfrm>
            <a:off x="0" y="3774964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🔹 STEP 2: Create User-Level Funnel Table</a:t>
            </a:r>
          </a:p>
          <a:p>
            <a:pPr>
              <a:buNone/>
            </a:pPr>
            <a:r>
              <a:rPr lang="en-US" sz="1600" dirty="0"/>
              <a:t>We want </a:t>
            </a:r>
            <a:r>
              <a:rPr lang="en-US" sz="1600" b="1" dirty="0"/>
              <a:t>one row per user</a:t>
            </a:r>
            <a:r>
              <a:rPr lang="en-US" sz="1600" dirty="0"/>
              <a:t>, showing if they reached each step.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7E57D6-7CF5-E930-941E-AF9A940FE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0" y="4359738"/>
            <a:ext cx="5721402" cy="238985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6CA2F33-B05A-3E61-75E3-518421CE7E28}"/>
              </a:ext>
            </a:extLst>
          </p:cNvPr>
          <p:cNvSpPr txBox="1"/>
          <p:nvPr/>
        </p:nvSpPr>
        <p:spPr>
          <a:xfrm>
            <a:off x="176752" y="1248906"/>
            <a:ext cx="6117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Level 1 → Core funnel</a:t>
            </a:r>
          </a:p>
        </p:txBody>
      </p:sp>
    </p:spTree>
    <p:extLst>
      <p:ext uri="{BB962C8B-B14F-4D97-AF65-F5344CB8AC3E}">
        <p14:creationId xmlns:p14="http://schemas.microsoft.com/office/powerpoint/2010/main" val="2986636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A3E2D2-0B5E-30B8-488A-033D6530643E}"/>
              </a:ext>
            </a:extLst>
          </p:cNvPr>
          <p:cNvSpPr txBox="1"/>
          <p:nvPr/>
        </p:nvSpPr>
        <p:spPr>
          <a:xfrm>
            <a:off x="0" y="42722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🔹 STEP 3: Funnel Counts</a:t>
            </a:r>
            <a:endParaRPr lang="en-IN" sz="1600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AE18DE-1218-7ABD-CA46-0A3D6BC66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2" y="471484"/>
            <a:ext cx="3468992" cy="11959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F5E0F1-0BA7-FD70-4F9D-83D8BB45A99B}"/>
              </a:ext>
            </a:extLst>
          </p:cNvPr>
          <p:cNvSpPr txBox="1"/>
          <p:nvPr/>
        </p:nvSpPr>
        <p:spPr>
          <a:xfrm>
            <a:off x="66059" y="2029951"/>
            <a:ext cx="6117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🔹 STEP 4: Funnel Conversion Rates</a:t>
            </a:r>
            <a:endParaRPr lang="en-IN" sz="1600" b="1" u="sn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071AAE-37A5-1955-BE89-7BDBD6D17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1" y="2454317"/>
            <a:ext cx="6391301" cy="8491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BB53B1-32C1-2550-A1DE-D85DB44D9DCD}"/>
              </a:ext>
            </a:extLst>
          </p:cNvPr>
          <p:cNvSpPr txBox="1"/>
          <p:nvPr/>
        </p:nvSpPr>
        <p:spPr>
          <a:xfrm>
            <a:off x="66059" y="3635398"/>
            <a:ext cx="61179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🔹 STEP 5: Drop-Off Analysis </a:t>
            </a:r>
            <a:endParaRPr lang="en-IN" sz="1600" b="1" u="sng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84959D-D6A8-FA16-35C2-EF2F92DAF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530" y="4023595"/>
            <a:ext cx="4326831" cy="87683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E5C863-277F-BA9A-4F0F-67F60BB91598}"/>
              </a:ext>
            </a:extLst>
          </p:cNvPr>
          <p:cNvSpPr txBox="1"/>
          <p:nvPr/>
        </p:nvSpPr>
        <p:spPr>
          <a:xfrm>
            <a:off x="150900" y="5335767"/>
            <a:ext cx="11783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 built a user-level funnel using event data to measure drop-offs between view, cart, and purchase stages, helping identify where conversion losses were highest.”</a:t>
            </a:r>
            <a:endParaRPr lang="en-IN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A480E95-63D3-6BBA-AF57-92709EF528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127596"/>
              </p:ext>
            </p:extLst>
          </p:nvPr>
        </p:nvGraphicFramePr>
        <p:xfrm>
          <a:off x="9442908" y="211999"/>
          <a:ext cx="2488678" cy="1371600"/>
        </p:xfrm>
        <a:graphic>
          <a:graphicData uri="http://schemas.openxmlformats.org/drawingml/2006/table">
            <a:tbl>
              <a:tblPr/>
              <a:tblGrid>
                <a:gridCol w="1244339">
                  <a:extLst>
                    <a:ext uri="{9D8B030D-6E8A-4147-A177-3AD203B41FA5}">
                      <a16:colId xmlns:a16="http://schemas.microsoft.com/office/drawing/2014/main" val="1328073992"/>
                    </a:ext>
                  </a:extLst>
                </a:gridCol>
                <a:gridCol w="1244339">
                  <a:extLst>
                    <a:ext uri="{9D8B030D-6E8A-4147-A177-3AD203B41FA5}">
                      <a16:colId xmlns:a16="http://schemas.microsoft.com/office/drawing/2014/main" val="1750451758"/>
                    </a:ext>
                  </a:extLst>
                </a:gridCol>
              </a:tblGrid>
              <a:tr h="21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98521"/>
                  </a:ext>
                </a:extLst>
              </a:tr>
              <a:tr h="21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Total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407,283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427806"/>
                  </a:ext>
                </a:extLst>
              </a:tr>
              <a:tr h="21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Viewed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406,863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401783"/>
                  </a:ext>
                </a:extLst>
              </a:tr>
              <a:tr h="21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Added to Cart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36,952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767758"/>
                  </a:ext>
                </a:extLst>
              </a:tr>
              <a:tr h="2102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Purchased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21,304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923097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623709D-52F5-C50E-1559-81B938B0515E}"/>
              </a:ext>
            </a:extLst>
          </p:cNvPr>
          <p:cNvSpPr txBox="1"/>
          <p:nvPr/>
        </p:nvSpPr>
        <p:spPr>
          <a:xfrm>
            <a:off x="9702146" y="2327075"/>
            <a:ext cx="19702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1" dirty="0"/>
              <a:t>Conversion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View → Cart:</a:t>
            </a:r>
            <a:r>
              <a:rPr lang="en-US" sz="1200" dirty="0"/>
              <a:t> </a:t>
            </a:r>
            <a:r>
              <a:rPr lang="en-US" sz="1200" b="1" dirty="0"/>
              <a:t>9%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Cart → Purchase:</a:t>
            </a:r>
            <a:r>
              <a:rPr lang="en-US" sz="1200" dirty="0"/>
              <a:t> </a:t>
            </a:r>
            <a:r>
              <a:rPr lang="en-US" sz="1200" b="1" dirty="0"/>
              <a:t>58%</a:t>
            </a: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/>
              <a:t>View → Purchase:</a:t>
            </a:r>
            <a:r>
              <a:rPr lang="en-US" sz="1200" dirty="0"/>
              <a:t> </a:t>
            </a:r>
            <a:r>
              <a:rPr lang="en-US" sz="1200" b="1" dirty="0"/>
              <a:t>5%</a:t>
            </a:r>
            <a:endParaRPr lang="en-US" sz="12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D70DF1-7CED-464A-464F-004D173C8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860687"/>
              </p:ext>
            </p:extLst>
          </p:nvPr>
        </p:nvGraphicFramePr>
        <p:xfrm>
          <a:off x="9508896" y="3901548"/>
          <a:ext cx="2356702" cy="1120932"/>
        </p:xfrm>
        <a:graphic>
          <a:graphicData uri="http://schemas.openxmlformats.org/drawingml/2006/table">
            <a:tbl>
              <a:tblPr/>
              <a:tblGrid>
                <a:gridCol w="1178351">
                  <a:extLst>
                    <a:ext uri="{9D8B030D-6E8A-4147-A177-3AD203B41FA5}">
                      <a16:colId xmlns:a16="http://schemas.microsoft.com/office/drawing/2014/main" val="1600792758"/>
                    </a:ext>
                  </a:extLst>
                </a:gridCol>
                <a:gridCol w="1178351">
                  <a:extLst>
                    <a:ext uri="{9D8B030D-6E8A-4147-A177-3AD203B41FA5}">
                      <a16:colId xmlns:a16="http://schemas.microsoft.com/office/drawing/2014/main" val="2727535857"/>
                    </a:ext>
                  </a:extLst>
                </a:gridCol>
              </a:tblGrid>
              <a:tr h="37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Drop-Off Point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Users Lost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978173"/>
                  </a:ext>
                </a:extLst>
              </a:tr>
              <a:tr h="37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After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369,911</a:t>
                      </a:r>
                      <a:endParaRPr lang="en-IN" sz="1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4666137"/>
                  </a:ext>
                </a:extLst>
              </a:tr>
              <a:tr h="373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After Cart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15,648</a:t>
                      </a:r>
                      <a:endParaRPr lang="en-IN" sz="1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571452"/>
                  </a:ext>
                </a:extLst>
              </a:tr>
            </a:tbl>
          </a:graphicData>
        </a:graphic>
      </p:graphicFrame>
      <p:pic>
        <p:nvPicPr>
          <p:cNvPr id="21" name="Picture 20">
            <a:extLst>
              <a:ext uri="{FF2B5EF4-FFF2-40B4-BE49-F238E27FC236}">
                <a16:creationId xmlns:a16="http://schemas.microsoft.com/office/drawing/2014/main" id="{DA05AB7D-1CAD-3B77-C807-B52CA1BA78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055" y="385429"/>
            <a:ext cx="2714702" cy="73441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47C4A7B-A8BB-C816-6DFE-A11EF7D96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055" y="2291745"/>
            <a:ext cx="2838890" cy="37507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CF8DD62-A9AF-00E1-1948-5694987A5B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202" y="4336631"/>
            <a:ext cx="1751167" cy="46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2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C089B6-F4AD-B11D-0472-765A359DEBF2}"/>
              </a:ext>
            </a:extLst>
          </p:cNvPr>
          <p:cNvSpPr txBox="1"/>
          <p:nvPr/>
        </p:nvSpPr>
        <p:spPr>
          <a:xfrm>
            <a:off x="247454" y="243188"/>
            <a:ext cx="1135694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/>
              <a:t>Business Interpretation </a:t>
            </a:r>
          </a:p>
          <a:p>
            <a:pPr>
              <a:buNone/>
            </a:pPr>
            <a:endParaRPr lang="en-US" sz="2800" b="1" u="sng" dirty="0"/>
          </a:p>
          <a:p>
            <a:pPr marL="342900" indent="-342900">
              <a:buAutoNum type="arabicPeriod"/>
            </a:pPr>
            <a:r>
              <a:rPr lang="en-US" b="1" dirty="0"/>
              <a:t>Primary Bottleneck: View →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~91% of users drop off before adding to cart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Indicates: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Browsing / comparison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Price sensitivity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Insufficient product detail or value signaling</a:t>
            </a:r>
          </a:p>
          <a:p>
            <a:pPr lvl="1"/>
            <a:endParaRPr lang="en-US" dirty="0"/>
          </a:p>
          <a:p>
            <a:pPr>
              <a:buNone/>
            </a:pPr>
            <a:r>
              <a:rPr lang="en-US" b="1" dirty="0"/>
              <a:t>2. Checkout Is Strong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58% cart → purchase is a healthy conversion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Suggests: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checkout friction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intent once users commit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6FBFBF-D96A-C669-9641-2ABDD53DC25C}"/>
              </a:ext>
            </a:extLst>
          </p:cNvPr>
          <p:cNvSpPr txBox="1"/>
          <p:nvPr/>
        </p:nvSpPr>
        <p:spPr>
          <a:xfrm>
            <a:off x="247454" y="5457648"/>
            <a:ext cx="11356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“Funnel analysis showed that the largest user drop-off occurs before the cart stage, with only 9% of viewers adding items to cart. However, once users add products to cart, conversion to purchase is strong at 58%, indicating that optimization efforts should focus on pre-cart engagement rather than checkout flow.”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8772A-6177-C67B-FDF8-4063296C4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936" y="154363"/>
            <a:ext cx="6743945" cy="410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0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F47C85-E1EC-68FF-B2EF-5CD2020DACB6}"/>
              </a:ext>
            </a:extLst>
          </p:cNvPr>
          <p:cNvSpPr txBox="1"/>
          <p:nvPr/>
        </p:nvSpPr>
        <p:spPr>
          <a:xfrm>
            <a:off x="115479" y="81219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/>
              <a:t>LEVEL 2 FUNNEL Segmentation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FB47A-216E-87A0-3636-0C5746442F5E}"/>
              </a:ext>
            </a:extLst>
          </p:cNvPr>
          <p:cNvSpPr txBox="1"/>
          <p:nvPr/>
        </p:nvSpPr>
        <p:spPr>
          <a:xfrm>
            <a:off x="1572" y="450551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1️⃣ Funnel by Time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43B356-5FAD-478C-D1CC-D06B9B97C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79" y="813646"/>
            <a:ext cx="4777032" cy="10510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1401EF-B0A1-E75C-287D-33D2CAE46A55}"/>
              </a:ext>
            </a:extLst>
          </p:cNvPr>
          <p:cNvSpPr txBox="1"/>
          <p:nvPr/>
        </p:nvSpPr>
        <p:spPr>
          <a:xfrm>
            <a:off x="-21996" y="1901736"/>
            <a:ext cx="6117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2️⃣ Funnel by Category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72F762-1A55-F9EB-3F2B-CB18850A2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79" y="2252036"/>
            <a:ext cx="4409387" cy="19747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2F85A5-860D-B9C6-BD61-F6E44CFF0D57}"/>
              </a:ext>
            </a:extLst>
          </p:cNvPr>
          <p:cNvSpPr txBox="1"/>
          <p:nvPr/>
        </p:nvSpPr>
        <p:spPr>
          <a:xfrm>
            <a:off x="-21996" y="4263767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3️⃣ Time-to-Purchase Analysis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1357666-7632-91D4-D42B-F872FE20C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79" y="4631376"/>
            <a:ext cx="4255568" cy="2145405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F8695F1-509C-3DB8-36DB-1E9B11F40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8214993"/>
              </p:ext>
            </p:extLst>
          </p:nvPr>
        </p:nvGraphicFramePr>
        <p:xfrm>
          <a:off x="7457409" y="135993"/>
          <a:ext cx="4619112" cy="4386850"/>
        </p:xfrm>
        <a:graphic>
          <a:graphicData uri="http://schemas.openxmlformats.org/drawingml/2006/table">
            <a:tbl>
              <a:tblPr/>
              <a:tblGrid>
                <a:gridCol w="1154778">
                  <a:extLst>
                    <a:ext uri="{9D8B030D-6E8A-4147-A177-3AD203B41FA5}">
                      <a16:colId xmlns:a16="http://schemas.microsoft.com/office/drawing/2014/main" val="202751883"/>
                    </a:ext>
                  </a:extLst>
                </a:gridCol>
                <a:gridCol w="1154778">
                  <a:extLst>
                    <a:ext uri="{9D8B030D-6E8A-4147-A177-3AD203B41FA5}">
                      <a16:colId xmlns:a16="http://schemas.microsoft.com/office/drawing/2014/main" val="917311752"/>
                    </a:ext>
                  </a:extLst>
                </a:gridCol>
                <a:gridCol w="1154778">
                  <a:extLst>
                    <a:ext uri="{9D8B030D-6E8A-4147-A177-3AD203B41FA5}">
                      <a16:colId xmlns:a16="http://schemas.microsoft.com/office/drawing/2014/main" val="4015941238"/>
                    </a:ext>
                  </a:extLst>
                </a:gridCol>
                <a:gridCol w="1154778">
                  <a:extLst>
                    <a:ext uri="{9D8B030D-6E8A-4147-A177-3AD203B41FA5}">
                      <a16:colId xmlns:a16="http://schemas.microsoft.com/office/drawing/2014/main" val="722589363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Event Hour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Viewers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Purchasers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Conversion Rate (%)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70592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00:00 (12 AM)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6,021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224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3.72%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433517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01:00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6,086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232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3.81%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80208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02:00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6,677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274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4.10%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17240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03:00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8,939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388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4.34%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520379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04:00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12,496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533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4.27%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43708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05:00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17,062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830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4.86%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8762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06:00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22,514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1,203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5.34%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30131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07:00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26,380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1,385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5.25%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68823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08:00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28,366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1,559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5.50%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63701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09:00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29,415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1,651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5.61%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974820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10:00 (Peak Viewers)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29,899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1,700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5.69%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17516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11:00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30,227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1,691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5.59%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715600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12:00 (Noon)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29,639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1,566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5.28%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2756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13:00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28,709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1,485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5.17%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03333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27,670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1,403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5.07%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4404302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26,913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1,339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4.98%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381359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27,391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1,351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4.93%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119903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17:00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28,130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1,381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4.91%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541321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18:00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27,636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1,334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4.83%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359733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24,652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1,269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5.15%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45508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20:00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19,951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985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4.94%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277631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21:00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14,115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662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4.69%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936907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22:00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9,474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439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4.63%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767845"/>
                  </a:ext>
                </a:extLst>
              </a:tr>
              <a:tr h="17405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23:00</a:t>
                      </a:r>
                      <a:endParaRPr lang="en-IN" sz="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7,188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305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8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4.24%</a:t>
                      </a:r>
                    </a:p>
                  </a:txBody>
                  <a:tcPr marL="40166" marR="40166" marT="26777" marB="26777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14946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4F98DE5D-2223-9F2F-245D-A1932B24C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238" y="5090474"/>
            <a:ext cx="3762900" cy="11812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28997D3-DFF0-7A4E-A5F6-21D5AFCC176C}"/>
              </a:ext>
            </a:extLst>
          </p:cNvPr>
          <p:cNvSpPr txBox="1"/>
          <p:nvPr/>
        </p:nvSpPr>
        <p:spPr>
          <a:xfrm>
            <a:off x="7608238" y="4725432"/>
            <a:ext cx="4392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Top 5 categories (by  purchase)</a:t>
            </a:r>
          </a:p>
        </p:txBody>
      </p:sp>
    </p:spTree>
    <p:extLst>
      <p:ext uri="{BB962C8B-B14F-4D97-AF65-F5344CB8AC3E}">
        <p14:creationId xmlns:p14="http://schemas.microsoft.com/office/powerpoint/2010/main" val="48688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8B8AEC-3C91-CEBE-7AE1-283199912F59}"/>
              </a:ext>
            </a:extLst>
          </p:cNvPr>
          <p:cNvSpPr txBox="1"/>
          <p:nvPr/>
        </p:nvSpPr>
        <p:spPr>
          <a:xfrm>
            <a:off x="0" y="82213"/>
            <a:ext cx="1169709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1️⃣ FUNNEL BY HOUR </a:t>
            </a:r>
          </a:p>
          <a:p>
            <a:pPr>
              <a:buNone/>
            </a:pPr>
            <a:endParaRPr lang="en-US" sz="1600" b="1" u="sng" dirty="0"/>
          </a:p>
          <a:p>
            <a:pPr>
              <a:buNone/>
            </a:pPr>
            <a:r>
              <a:rPr lang="en-US" sz="1600" b="1" dirty="0"/>
              <a:t> What the data shows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Traffic steadily increases from </a:t>
            </a:r>
            <a:r>
              <a:rPr lang="en-US" sz="1600" b="1" dirty="0"/>
              <a:t>early morning (5–6 AM)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Peak activity: 10 AM – 1 PM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Purchases closely follow traffic pattern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Night-time (0–4 AM) has </a:t>
            </a:r>
            <a:r>
              <a:rPr lang="en-US" sz="1600" b="1" dirty="0"/>
              <a:t>very low intent</a:t>
            </a:r>
            <a:endParaRPr lang="en-US" sz="1600" dirty="0"/>
          </a:p>
          <a:p>
            <a:pPr>
              <a:buNone/>
            </a:pPr>
            <a:r>
              <a:rPr lang="en-US" sz="1600" dirty="0"/>
              <a:t>Although raw counts are higher mid-day: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Evening hours (7–9 PM) show </a:t>
            </a:r>
            <a:r>
              <a:rPr lang="en-US" sz="1600" b="1" dirty="0"/>
              <a:t>strong purchase intent per viewer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Early morning viewers are low-intent browsers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ED3C6B-9404-FFA2-8FD8-6E90B25B0598}"/>
              </a:ext>
            </a:extLst>
          </p:cNvPr>
          <p:cNvSpPr txBox="1"/>
          <p:nvPr/>
        </p:nvSpPr>
        <p:spPr>
          <a:xfrm>
            <a:off x="0" y="2795890"/>
            <a:ext cx="118589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u="sng" dirty="0"/>
              <a:t>2️⃣ FUNNEL BY CATEGORY </a:t>
            </a:r>
          </a:p>
          <a:p>
            <a:pPr>
              <a:buNone/>
            </a:pPr>
            <a:endParaRPr lang="en-IN" sz="1600" b="1" u="sng" dirty="0"/>
          </a:p>
          <a:p>
            <a:pPr>
              <a:buNone/>
            </a:pPr>
            <a:r>
              <a:rPr lang="en-IN" sz="1600" b="1" dirty="0"/>
              <a:t>High-performing categories (conversion-friendly)</a:t>
            </a:r>
          </a:p>
          <a:p>
            <a:pPr>
              <a:buNone/>
            </a:pPr>
            <a:r>
              <a:rPr lang="en-IN" sz="1600" dirty="0"/>
              <a:t>These categories convert well: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Cameras ,computer components.videocards ,telephone,cartridge,computers peripherals.printer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High-need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Specification-driven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Low impulse uncertainty</a:t>
            </a:r>
          </a:p>
          <a:p>
            <a:pPr>
              <a:buNone/>
            </a:pPr>
            <a:r>
              <a:rPr lang="en-IN" sz="1600" b="1" dirty="0"/>
              <a:t> Browsing-heavy, low-conversion categories</a:t>
            </a:r>
          </a:p>
          <a:p>
            <a:r>
              <a:rPr lang="en-IN" sz="1600" dirty="0"/>
              <a:t>electronics.video.tv ,electronics.audio.acoustic, electronics.audio.headphone</a:t>
            </a:r>
          </a:p>
          <a:p>
            <a:pPr>
              <a:buNone/>
            </a:pPr>
            <a:r>
              <a:rPr lang="en-IN" sz="1600" dirty="0"/>
              <a:t>These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High comparison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Price-sensitive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Often bought offline</a:t>
            </a:r>
          </a:p>
        </p:txBody>
      </p:sp>
    </p:spTree>
    <p:extLst>
      <p:ext uri="{BB962C8B-B14F-4D97-AF65-F5344CB8AC3E}">
        <p14:creationId xmlns:p14="http://schemas.microsoft.com/office/powerpoint/2010/main" val="2763422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722973-13D2-5A63-1BE7-BBE917E048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31" y="263360"/>
            <a:ext cx="11317950" cy="659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90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89C82-F670-C7C5-60B8-D8A620A7FDB2}"/>
              </a:ext>
            </a:extLst>
          </p:cNvPr>
          <p:cNvSpPr txBox="1"/>
          <p:nvPr/>
        </p:nvSpPr>
        <p:spPr>
          <a:xfrm>
            <a:off x="153187" y="153261"/>
            <a:ext cx="117434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 Important insight: NULL 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Highest traffic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Moderate purchases</a:t>
            </a:r>
          </a:p>
          <a:p>
            <a:pPr>
              <a:buNone/>
            </a:pPr>
            <a:r>
              <a:rPr lang="en-US" sz="1600" dirty="0"/>
              <a:t>Interpretation:</a:t>
            </a:r>
          </a:p>
          <a:p>
            <a:pPr>
              <a:buNone/>
            </a:pPr>
            <a:r>
              <a:rPr lang="en-US" sz="1600" dirty="0"/>
              <a:t>Many products lack category mapping; treating them as a separate group avoids data loss but requires cleanup for better merchandising insights.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B3724-C083-5859-C1C7-CD6FACFFC78A}"/>
              </a:ext>
            </a:extLst>
          </p:cNvPr>
          <p:cNvSpPr txBox="1"/>
          <p:nvPr/>
        </p:nvSpPr>
        <p:spPr>
          <a:xfrm>
            <a:off x="81305" y="1780314"/>
            <a:ext cx="9575275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3️⃣ TIME TO PURCHASE INSIGHT</a:t>
            </a:r>
          </a:p>
          <a:p>
            <a:pPr>
              <a:buNone/>
            </a:pPr>
            <a:r>
              <a:rPr lang="en-US" sz="1600" b="1" dirty="0"/>
              <a:t>⏱ Average time to purchase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2221 minutes ≈ 37 hours</a:t>
            </a:r>
            <a:endParaRPr lang="en-US" sz="1600" dirty="0"/>
          </a:p>
          <a:p>
            <a:pPr>
              <a:buNone/>
            </a:pPr>
            <a:r>
              <a:rPr lang="en-US" sz="1600" b="1" dirty="0"/>
              <a:t>What 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Users </a:t>
            </a:r>
            <a:r>
              <a:rPr lang="en-US" sz="1600" b="1" dirty="0"/>
              <a:t>do not purchase immediately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Indicates: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Research-driven behavior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Multi-session journey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Price comparison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B50CFE-7262-3E04-248E-52A3FF019511}"/>
              </a:ext>
            </a:extLst>
          </p:cNvPr>
          <p:cNvSpPr txBox="1"/>
          <p:nvPr/>
        </p:nvSpPr>
        <p:spPr>
          <a:xfrm>
            <a:off x="4166648" y="4196360"/>
            <a:ext cx="2111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Overall insight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BD510-62EB-19A3-F75B-360C8B6DD19A}"/>
              </a:ext>
            </a:extLst>
          </p:cNvPr>
          <p:cNvSpPr txBox="1"/>
          <p:nvPr/>
        </p:nvSpPr>
        <p:spPr>
          <a:xfrm>
            <a:off x="153187" y="4642636"/>
            <a:ext cx="1180314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Funnel analysis shows that the largest user drop-off occurs before the cart stage, with only 9% of viewers adding items to cart. However, once users add products to cart, conversion to purchase is strong at 58%, indicating that optimization efforts should focus on pre-cart engagement rather than checkout flow.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Purchase activity peaks between hours </a:t>
            </a:r>
            <a:r>
              <a:rPr lang="en-US" sz="1600" b="1" dirty="0"/>
              <a:t>9–13</a:t>
            </a:r>
            <a:r>
              <a:rPr lang="en-US" sz="1600" dirty="0"/>
              <a:t> based on the recorded event timestamp, indicating consistent intra-day activity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High-involvement categories such as </a:t>
            </a:r>
            <a:r>
              <a:rPr lang="en-US" sz="1600" b="1" dirty="0"/>
              <a:t>notebooks and </a:t>
            </a:r>
            <a:r>
              <a:rPr lang="en-US" sz="1600" b="1" dirty="0" err="1"/>
              <a:t>videocards</a:t>
            </a:r>
            <a:r>
              <a:rPr lang="en-US" sz="1600" dirty="0"/>
              <a:t> show lower conversion compared to accessory items, suggesting longer decision cycles.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average time from first product view to purchase is </a:t>
            </a:r>
            <a:r>
              <a:rPr lang="en-US" sz="1600" b="1" dirty="0"/>
              <a:t>~37 hours</a:t>
            </a:r>
            <a:r>
              <a:rPr lang="en-US" sz="1600" dirty="0"/>
              <a:t>, indicating comparison-driven buying behavior rather than impulse purchases.</a:t>
            </a:r>
          </a:p>
        </p:txBody>
      </p:sp>
    </p:spTree>
    <p:extLst>
      <p:ext uri="{BB962C8B-B14F-4D97-AF65-F5344CB8AC3E}">
        <p14:creationId xmlns:p14="http://schemas.microsoft.com/office/powerpoint/2010/main" val="2140269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4394A-E032-4421-BF43-C85C1053B174}"/>
              </a:ext>
            </a:extLst>
          </p:cNvPr>
          <p:cNvSpPr txBox="1"/>
          <p:nvPr/>
        </p:nvSpPr>
        <p:spPr>
          <a:xfrm>
            <a:off x="341722" y="20183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PART 2: RETENTION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3B695-323B-EE4C-4BC6-7E9B9F404A84}"/>
              </a:ext>
            </a:extLst>
          </p:cNvPr>
          <p:cNvSpPr txBox="1"/>
          <p:nvPr/>
        </p:nvSpPr>
        <p:spPr>
          <a:xfrm>
            <a:off x="256881" y="72901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🎯 Objective</a:t>
            </a:r>
          </a:p>
          <a:p>
            <a:pPr>
              <a:buNone/>
            </a:pPr>
            <a:r>
              <a:rPr lang="en-US" dirty="0"/>
              <a:t>Understand: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 users return after first purchase?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many come back within 7 / 30 days?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BD0D97-B29E-3285-0F11-689D6BD71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106" y="201832"/>
            <a:ext cx="6283013" cy="643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13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076F59-EA41-B75E-FEA3-0B3913CCB61C}"/>
              </a:ext>
            </a:extLst>
          </p:cNvPr>
          <p:cNvSpPr txBox="1"/>
          <p:nvPr/>
        </p:nvSpPr>
        <p:spPr>
          <a:xfrm>
            <a:off x="106052" y="126418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Retention Results  and insights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A26AB-2CB2-E20C-E848-3E4B4CFB590A}"/>
              </a:ext>
            </a:extLst>
          </p:cNvPr>
          <p:cNvSpPr txBox="1"/>
          <p:nvPr/>
        </p:nvSpPr>
        <p:spPr>
          <a:xfrm>
            <a:off x="106052" y="582067"/>
            <a:ext cx="94055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Retention Results (Final)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Total buyers:</a:t>
            </a:r>
            <a:r>
              <a:rPr lang="en-US" sz="1600" dirty="0"/>
              <a:t> 21,304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7-day repeat buyers:</a:t>
            </a:r>
            <a:r>
              <a:rPr lang="en-US" sz="1600" dirty="0"/>
              <a:t> 6,985 (</a:t>
            </a:r>
            <a:r>
              <a:rPr lang="en-US" sz="1600" b="1" dirty="0"/>
              <a:t>33%</a:t>
            </a:r>
            <a:r>
              <a:rPr lang="en-US" sz="16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30-day repeat buyers:</a:t>
            </a:r>
            <a:r>
              <a:rPr lang="en-US" sz="1600" dirty="0"/>
              <a:t> 7,178 (</a:t>
            </a:r>
            <a:r>
              <a:rPr lang="en-US" sz="1600" b="1" dirty="0"/>
              <a:t>34%</a:t>
            </a:r>
            <a:r>
              <a:rPr lang="en-US" sz="1600" dirty="0"/>
              <a:t>)</a:t>
            </a:r>
          </a:p>
          <a:p>
            <a:pPr>
              <a:buNone/>
            </a:pPr>
            <a:br>
              <a:rPr lang="en-US" sz="1600" dirty="0"/>
            </a:br>
            <a:endParaRPr lang="en-US" sz="160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1A30DFB-A8F9-B6BC-3187-1D1AFCB73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52" y="1859340"/>
            <a:ext cx="739385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Out of 21,304 buyers,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34% made a repeat purchase within 30 days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66% did not return within the 30-day window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Repeat purchases are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heavily concentrated in the first 7 days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with very limited additional returns between days 8–30.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indicates that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short-term repeat behavior happens quickly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buyers who do not return early are less likely to repurchase in the near term.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A22E92-3F58-3FEA-DA36-913D3508F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558" y="126418"/>
            <a:ext cx="5483547" cy="3252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44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8B4D8B0-5B79-7421-F1D2-6249BBE65616}"/>
              </a:ext>
            </a:extLst>
          </p:cNvPr>
          <p:cNvSpPr txBox="1"/>
          <p:nvPr/>
        </p:nvSpPr>
        <p:spPr>
          <a:xfrm>
            <a:off x="219174" y="141427"/>
            <a:ext cx="6094428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u="sng" dirty="0"/>
              <a:t>OVERALL INSIGHT</a:t>
            </a:r>
          </a:p>
          <a:p>
            <a:pPr>
              <a:buNone/>
            </a:pPr>
            <a:endParaRPr lang="en-US" b="1" u="sng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main conversion bottleneck lies in the </a:t>
            </a:r>
            <a:r>
              <a:rPr lang="en-US" sz="1600" b="1" dirty="0"/>
              <a:t>pre-cart stage</a:t>
            </a:r>
            <a:r>
              <a:rPr lang="en-US" sz="1600" dirty="0"/>
              <a:t>, where most users drop off during product evaluation.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Buyers who do convert exhibit </a:t>
            </a:r>
            <a:r>
              <a:rPr lang="en-US" sz="1600" b="1" dirty="0"/>
              <a:t>deliberate purchasing behavior</a:t>
            </a:r>
            <a:r>
              <a:rPr lang="en-US" sz="1600" dirty="0"/>
              <a:t>, taking ~37 hours to complete a purchase.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Short-term retention is time-sensitive</a:t>
            </a:r>
            <a:r>
              <a:rPr lang="en-US" sz="1600" dirty="0"/>
              <a:t>: customers who repurchase typically do so within the first week, while delayed repeat behavior is rare within 30 days.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Business efforts should therefore focus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Improving pre-cart engagement to increase first-time conversion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Activating </a:t>
            </a:r>
            <a:r>
              <a:rPr lang="en-US" sz="1600" b="1" dirty="0"/>
              <a:t>early post-purchase nudges within 7 days</a:t>
            </a:r>
            <a:r>
              <a:rPr lang="en-US" sz="1600" dirty="0"/>
              <a:t>, rather than assuming long-term loyalty patterns</a:t>
            </a:r>
          </a:p>
        </p:txBody>
      </p:sp>
    </p:spTree>
    <p:extLst>
      <p:ext uri="{BB962C8B-B14F-4D97-AF65-F5344CB8AC3E}">
        <p14:creationId xmlns:p14="http://schemas.microsoft.com/office/powerpoint/2010/main" val="425869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2389453-1E93-3DE7-A4AC-D28FC8E0154C}"/>
              </a:ext>
            </a:extLst>
          </p:cNvPr>
          <p:cNvSpPr txBox="1"/>
          <p:nvPr/>
        </p:nvSpPr>
        <p:spPr>
          <a:xfrm>
            <a:off x="127820" y="157426"/>
            <a:ext cx="1206418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 </a:t>
            </a:r>
            <a:r>
              <a:rPr lang="en-US" b="1" u="sng" dirty="0"/>
              <a:t>Actionable Business Recommendations </a:t>
            </a:r>
          </a:p>
          <a:p>
            <a:endParaRPr lang="en-US" b="1" u="sng" dirty="0"/>
          </a:p>
          <a:p>
            <a:r>
              <a:rPr lang="en-US" sz="1600" b="1" dirty="0"/>
              <a:t>1️⃣ Fix the biggest funnel leak: View → Cart (91% drop-off)</a:t>
            </a:r>
          </a:p>
          <a:p>
            <a:r>
              <a:rPr lang="en-US" sz="1600" b="1" dirty="0"/>
              <a:t>What the business should do</a:t>
            </a:r>
          </a:p>
          <a:p>
            <a:r>
              <a:rPr lang="en-US" sz="1600" b="1" dirty="0"/>
              <a:t>Improve product evaluation</a:t>
            </a:r>
            <a:r>
              <a:rPr lang="en-US" sz="1600" dirty="0"/>
              <a:t> at the moment of browsing:</a:t>
            </a:r>
          </a:p>
          <a:p>
            <a:pPr lvl="1"/>
            <a:r>
              <a:rPr lang="en-US" sz="1600" dirty="0"/>
              <a:t>Add </a:t>
            </a:r>
            <a:r>
              <a:rPr lang="en-US" sz="1600" i="1" dirty="0"/>
              <a:t>clear specs comparison</a:t>
            </a:r>
            <a:r>
              <a:rPr lang="en-US" sz="1600" dirty="0"/>
              <a:t> for similar products</a:t>
            </a:r>
          </a:p>
          <a:p>
            <a:pPr lvl="1"/>
            <a:r>
              <a:rPr lang="en-US" sz="1600" dirty="0"/>
              <a:t>Show </a:t>
            </a:r>
            <a:r>
              <a:rPr lang="en-US" sz="1600" i="1" dirty="0"/>
              <a:t>price breakdown &amp; discounts upfront</a:t>
            </a:r>
            <a:endParaRPr lang="en-US" sz="1600" dirty="0"/>
          </a:p>
          <a:p>
            <a:pPr lvl="1"/>
            <a:r>
              <a:rPr lang="en-US" sz="1600" dirty="0"/>
              <a:t>Display </a:t>
            </a:r>
            <a:r>
              <a:rPr lang="en-US" sz="1600" i="1" dirty="0"/>
              <a:t>delivery timelines</a:t>
            </a:r>
            <a:r>
              <a:rPr lang="en-US" sz="1600" dirty="0"/>
              <a:t> early (before cart)</a:t>
            </a:r>
          </a:p>
          <a:p>
            <a:r>
              <a:rPr lang="en-US" sz="1600" dirty="0"/>
              <a:t>Introduce </a:t>
            </a:r>
            <a:r>
              <a:rPr lang="en-US" sz="1600" b="1" dirty="0"/>
              <a:t>“Add to cart nudges”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“Low stock” or “Price changed recently” indicators</a:t>
            </a:r>
          </a:p>
          <a:p>
            <a:pPr lvl="1"/>
            <a:r>
              <a:rPr lang="en-US" sz="1600" dirty="0"/>
              <a:t>Quick-add buttons for accessories</a:t>
            </a:r>
          </a:p>
          <a:p>
            <a:r>
              <a:rPr lang="en-US" sz="1600" dirty="0"/>
              <a:t>📊 </a:t>
            </a:r>
            <a:r>
              <a:rPr lang="en-US" sz="1600" b="1" dirty="0"/>
              <a:t>Why (data-backed):</a:t>
            </a:r>
            <a:br>
              <a:rPr lang="en-US" sz="1600" dirty="0"/>
            </a:br>
            <a:r>
              <a:rPr lang="en-US" sz="1600" dirty="0"/>
              <a:t>Only </a:t>
            </a:r>
            <a:r>
              <a:rPr lang="en-US" sz="1600" b="1" dirty="0"/>
              <a:t>9% of viewers</a:t>
            </a:r>
            <a:r>
              <a:rPr lang="en-US" sz="1600" dirty="0"/>
              <a:t> add to cart, but </a:t>
            </a:r>
            <a:r>
              <a:rPr lang="en-US" sz="1600" b="1" dirty="0"/>
              <a:t>58% of those convert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dirty="0"/>
              <a:t>So every improvement in view → cart directly multiplies revenue.</a:t>
            </a:r>
          </a:p>
          <a:p>
            <a:br>
              <a:rPr lang="en-US" sz="1600" dirty="0"/>
            </a:b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8B230A-2552-AD7F-053D-8C663B6BC577}"/>
              </a:ext>
            </a:extLst>
          </p:cNvPr>
          <p:cNvSpPr txBox="1"/>
          <p:nvPr/>
        </p:nvSpPr>
        <p:spPr>
          <a:xfrm>
            <a:off x="53419" y="3640146"/>
            <a:ext cx="1140693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/>
          </a:p>
          <a:p>
            <a:r>
              <a:rPr lang="en-US" sz="1600" b="1" dirty="0"/>
              <a:t>2️⃣ Time post-purchase engagement around the 37-hour decision cycle</a:t>
            </a:r>
          </a:p>
          <a:p>
            <a:r>
              <a:rPr lang="en-US" sz="1600" b="1" dirty="0"/>
              <a:t>What the business should do</a:t>
            </a:r>
          </a:p>
          <a:p>
            <a:r>
              <a:rPr lang="en-US" sz="1600" b="1" dirty="0"/>
              <a:t>Within 24–48 hours of first purchase</a:t>
            </a:r>
            <a:r>
              <a:rPr lang="en-US" sz="1600" dirty="0"/>
              <a:t>:</a:t>
            </a:r>
          </a:p>
          <a:p>
            <a:pPr lvl="1"/>
            <a:r>
              <a:rPr lang="en-US" sz="1600" dirty="0"/>
              <a:t>Send </a:t>
            </a:r>
            <a:r>
              <a:rPr lang="en-US" sz="1600" b="1" dirty="0"/>
              <a:t>personalized follow-up emails / push notifications</a:t>
            </a:r>
            <a:endParaRPr lang="en-US" sz="1600" dirty="0"/>
          </a:p>
          <a:p>
            <a:pPr lvl="1"/>
            <a:r>
              <a:rPr lang="en-US" sz="1600" dirty="0"/>
              <a:t>Recommend </a:t>
            </a:r>
            <a:r>
              <a:rPr lang="en-US" sz="1600" b="1" dirty="0"/>
              <a:t>complementary or accessory products</a:t>
            </a:r>
            <a:endParaRPr lang="en-US" sz="1600" dirty="0"/>
          </a:p>
          <a:p>
            <a:pPr lvl="1"/>
            <a:r>
              <a:rPr lang="en-US" sz="1600" dirty="0"/>
              <a:t>Example:</a:t>
            </a:r>
          </a:p>
          <a:p>
            <a:pPr lvl="2"/>
            <a:r>
              <a:rPr lang="en-US" sz="1600" dirty="0"/>
              <a:t>Laptop → mouse, keyboard, adapter</a:t>
            </a:r>
          </a:p>
          <a:p>
            <a:pPr lvl="2"/>
            <a:r>
              <a:rPr lang="en-US" sz="1600" dirty="0" err="1"/>
              <a:t>Videocard</a:t>
            </a:r>
            <a:r>
              <a:rPr lang="en-US" sz="1600" dirty="0"/>
              <a:t> → power supply, cooling fan</a:t>
            </a:r>
          </a:p>
          <a:p>
            <a:r>
              <a:rPr lang="en-US" sz="1600" dirty="0"/>
              <a:t> </a:t>
            </a:r>
            <a:r>
              <a:rPr lang="en-US" sz="1600" b="1" dirty="0"/>
              <a:t>don’t wait a week</a:t>
            </a:r>
            <a:r>
              <a:rPr lang="en-US" sz="1600" dirty="0"/>
              <a:t> — the window is </a:t>
            </a:r>
            <a:r>
              <a:rPr lang="en-US" sz="1600" b="1" dirty="0"/>
              <a:t>1–2 days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20276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87FEB9-76A4-AB01-64D6-7B0F4243E49D}"/>
              </a:ext>
            </a:extLst>
          </p:cNvPr>
          <p:cNvSpPr txBox="1"/>
          <p:nvPr/>
        </p:nvSpPr>
        <p:spPr>
          <a:xfrm>
            <a:off x="115479" y="303370"/>
            <a:ext cx="60944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3️⃣ Exploit the 7-day retention window (most critical)</a:t>
            </a:r>
          </a:p>
          <a:p>
            <a:pPr>
              <a:buNone/>
            </a:pPr>
            <a:r>
              <a:rPr lang="en-US" b="1" dirty="0"/>
              <a:t>What the business should 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Day 2–3:</a:t>
            </a:r>
            <a:r>
              <a:rPr lang="en-US" dirty="0"/>
              <a:t> Reminder / cross-sell message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Day 5–7:</a:t>
            </a:r>
            <a:r>
              <a:rPr lang="en-US" dirty="0"/>
              <a:t> Limited-time incentive (small discount, free delivery)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Stop aggressive nudging </a:t>
            </a:r>
            <a:r>
              <a:rPr lang="en-US" b="1" dirty="0"/>
              <a:t>after Day 7</a:t>
            </a:r>
            <a:endParaRPr lang="en-US" dirty="0"/>
          </a:p>
          <a:p>
            <a:pPr>
              <a:buNone/>
            </a:pPr>
            <a:r>
              <a:rPr lang="en-US" dirty="0"/>
              <a:t>📊 </a:t>
            </a:r>
            <a:r>
              <a:rPr lang="en-US" b="1" dirty="0"/>
              <a:t>Why: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33% repeat within 7 days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Almost </a:t>
            </a:r>
            <a:r>
              <a:rPr lang="en-US" b="1" dirty="0"/>
              <a:t>no additional users return after that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ROI drops sharply after Week 1</a:t>
            </a:r>
          </a:p>
          <a:p>
            <a:pPr>
              <a:buNone/>
            </a:pPr>
            <a:r>
              <a:rPr lang="en-US" dirty="0"/>
              <a:t>This is </a:t>
            </a:r>
            <a:r>
              <a:rPr lang="en-US" b="1" dirty="0"/>
              <a:t>classic short-term retention behavior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0E048-CC4C-47E3-439E-531E2C21B28B}"/>
              </a:ext>
            </a:extLst>
          </p:cNvPr>
          <p:cNvSpPr txBox="1"/>
          <p:nvPr/>
        </p:nvSpPr>
        <p:spPr>
          <a:xfrm>
            <a:off x="115479" y="3415309"/>
            <a:ext cx="60944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4️⃣ Different strategies by product type</a:t>
            </a:r>
          </a:p>
          <a:p>
            <a:pPr>
              <a:buNone/>
            </a:pPr>
            <a:r>
              <a:rPr lang="en-US" b="1" dirty="0"/>
              <a:t>High-involvement products (notebooks, </a:t>
            </a:r>
            <a:r>
              <a:rPr lang="en-US" b="1" dirty="0" err="1"/>
              <a:t>videocards</a:t>
            </a:r>
            <a:r>
              <a:rPr lang="en-US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Buying guides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Comparison tables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Extended warranty visibility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Avoid aggressive discounts immediately</a:t>
            </a:r>
          </a:p>
          <a:p>
            <a:pPr>
              <a:buNone/>
            </a:pPr>
            <a:r>
              <a:rPr lang="en-US" b="1" dirty="0"/>
              <a:t>Low-cost accessories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Push </a:t>
            </a:r>
            <a:r>
              <a:rPr lang="en-US" b="1" dirty="0"/>
              <a:t>bundles</a:t>
            </a:r>
            <a:r>
              <a:rPr lang="en-US" dirty="0"/>
              <a:t> and </a:t>
            </a:r>
            <a:r>
              <a:rPr lang="en-US" b="1" dirty="0"/>
              <a:t>add-ons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urgency messaging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Target for fast repeat purchases</a:t>
            </a:r>
          </a:p>
        </p:txBody>
      </p:sp>
    </p:spTree>
    <p:extLst>
      <p:ext uri="{BB962C8B-B14F-4D97-AF65-F5344CB8AC3E}">
        <p14:creationId xmlns:p14="http://schemas.microsoft.com/office/powerpoint/2010/main" val="2440025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B37671-F78F-A881-589A-11098D8B05AA}"/>
              </a:ext>
            </a:extLst>
          </p:cNvPr>
          <p:cNvSpPr txBox="1"/>
          <p:nvPr/>
        </p:nvSpPr>
        <p:spPr>
          <a:xfrm>
            <a:off x="1463512" y="1762342"/>
            <a:ext cx="60944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“The data shows that revenue impact is driven by improving pre-cart engagement and activating buyers quickly after purchase. Most repeat purchases happen within 7 days, and the average decision cycle is ~37 hours, so retention strategies should focus on timely post-purchase nudges rather than long-term loyalty campaigns.”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0087E-5054-86D3-B103-35CD8E8895AA}"/>
              </a:ext>
            </a:extLst>
          </p:cNvPr>
          <p:cNvSpPr txBox="1"/>
          <p:nvPr/>
        </p:nvSpPr>
        <p:spPr>
          <a:xfrm>
            <a:off x="2460396" y="282804"/>
            <a:ext cx="52413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u="sng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72824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2832</TotalTime>
  <Words>1468</Words>
  <Application>Microsoft Office PowerPoint</Application>
  <PresentationFormat>Widescreen</PresentationFormat>
  <Paragraphs>292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Google Sans Text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shanbhogue</dc:creator>
  <cp:lastModifiedBy>sachin shanbhogue</cp:lastModifiedBy>
  <cp:revision>1</cp:revision>
  <dcterms:created xsi:type="dcterms:W3CDTF">2025-12-22T07:45:09Z</dcterms:created>
  <dcterms:modified xsi:type="dcterms:W3CDTF">2025-12-24T06:58:01Z</dcterms:modified>
</cp:coreProperties>
</file>